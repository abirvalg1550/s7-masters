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7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771BAD-583D-4305-BA37-829F330291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A4E1D2E-B53E-497E-B2DD-D7FB5D3F5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D315E3-2AF0-4128-A87F-2A54340FD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177E-5F12-435F-BF0A-F5803BB0E8FC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E2550F-0E9C-49A7-8A9C-6F874FCEA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4028A1-AC1A-4138-8FBF-D01B42127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97A6-B12F-46EA-AC2F-C5EC2B7660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257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8AD24A-0CB2-4349-99E3-66C8A9790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5060FD-E2FA-43E2-B12B-10365FC90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F5536F-03C9-4D79-9BE7-6C28C0598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177E-5F12-435F-BF0A-F5803BB0E8FC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AEF7BA-F2CA-42CB-A429-93B91C0B2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2D5DD0-0799-4BE5-A244-677324224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97A6-B12F-46EA-AC2F-C5EC2B7660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7334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39C441-B87B-4D60-90F1-AB71A7AD3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CA2E69-4D77-4330-8DFC-67E080B7D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06553D-05BA-428F-8F6C-35CB818E4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177E-5F12-435F-BF0A-F5803BB0E8FC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F88222-6485-43C3-AEDE-8006BD565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39EA06-D9FA-413B-A346-EA1E168E3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97A6-B12F-46EA-AC2F-C5EC2B7660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8573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8B61C6-7616-43FB-85B3-51EB77EEB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441E91-1992-4EC6-BF8F-CA1A940E25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58585F-89AB-45C7-A4D0-F10D6EF36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EE89C77-2734-4DFF-BF6D-D16A9F1AE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177E-5F12-435F-BF0A-F5803BB0E8FC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932A984-6989-4A53-A3BA-3862610D2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826A1A1-B2B0-4FB2-89AB-FB7686C8D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97A6-B12F-46EA-AC2F-C5EC2B7660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56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02D751-874F-47BC-9339-E8C5FFB98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80FCA99-D54B-401B-851E-FF995521E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1D35ED3-F000-464B-9A03-D4B2989D60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22E5C94-EF23-4D13-8162-655179605C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D709F8B-2300-4849-AE55-BE2DA5190F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3F2BA03-B354-4B3D-8EF5-D4803101A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177E-5F12-435F-BF0A-F5803BB0E8FC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A65F6DD-E810-48FF-9CA5-14DE5B8B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D30A0DE-2CB5-4236-A666-7CFC7797B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97A6-B12F-46EA-AC2F-C5EC2B7660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2539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F36B7E-635A-4978-9843-FF1A6C1F1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4DD6A24-CE2D-4ABF-87EE-5034F2B38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177E-5F12-435F-BF0A-F5803BB0E8FC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E336518-6B04-4C11-8052-F52C038B0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258571A-9F9F-4735-B19A-766CC7155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97A6-B12F-46EA-AC2F-C5EC2B7660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1204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9E44488-8F75-47A5-8C41-8FF013E80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177E-5F12-435F-BF0A-F5803BB0E8FC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9C9396D-32E6-4BDD-889A-E05A42F6A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FF0A1E-C6C8-4321-B6BD-B72C0FD6B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97A6-B12F-46EA-AC2F-C5EC2B7660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6499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66149E-47C6-4117-AF1B-F90E2F38C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14EDA6-C9F0-4198-A120-21BC5D4ED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A0A10AA-95D6-48E9-BF23-9BDC3FAB6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AE5DA06-C6E3-4FAC-ABF4-788534BA2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177E-5F12-435F-BF0A-F5803BB0E8FC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9BFF41C-19EE-419E-87CA-78AF4EA8B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F8CE3A-A39C-403A-8891-538BC2F7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97A6-B12F-46EA-AC2F-C5EC2B7660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333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647D43-B608-4090-B606-515A4E932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5834DE9-FFF1-4BA8-88E1-5E4C28B4B7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8031D5A-E1B0-41F7-BB4C-EE754FAAF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5DED228-4A86-42ED-B2AC-343B79457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177E-5F12-435F-BF0A-F5803BB0E8FC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A9D2DE9-ABB9-4ACD-B6ED-EDD55EB77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EA3E5D-BF6C-4C44-AFFC-0C75CEFBB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97A6-B12F-46EA-AC2F-C5EC2B7660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267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FDB24D-CBE9-4F3E-9978-C9BCFA91C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CE4A11A-A383-4A33-9DD3-405825FD2F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3C235C-98C4-4A13-B614-0B1E13922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177E-5F12-435F-BF0A-F5803BB0E8FC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4F25EF-F7A8-4CAD-BDDE-56F696EA5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0BF3E7-A271-4883-9E6E-910061F1D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97A6-B12F-46EA-AC2F-C5EC2B7660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7038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8BAAB2F-DB83-437D-B189-B1A31D73A0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1EFB435-CAFE-4E44-9ACD-8501372E9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4A5ADF-9BD3-4C04-8FE7-F0B5E2B56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177E-5F12-435F-BF0A-F5803BB0E8FC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B6A20F-784E-40DA-AAD9-E4F51A940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C6FDE6-FE2D-4869-A050-4B2EB2D6E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97A6-B12F-46EA-AC2F-C5EC2B7660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888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487D5A-45B7-4320-BE53-2BE4A908C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5291CF-4D41-44DF-9719-F89D9B159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A4F966-6326-485D-9BFC-9E241F47B8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D177E-5F12-435F-BF0A-F5803BB0E8FC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92B696-90CC-40DC-B1D1-769F103AA3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6AF99C-1842-4103-B253-68823EEE1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7897A6-B12F-46EA-AC2F-C5EC2B7660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812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B7399B-99B3-4DFB-AAB0-AE383170B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выводы из разведочного анализа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4CDC22-0207-43F9-BB28-46BE96607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Категория 1</a:t>
            </a:r>
          </a:p>
          <a:p>
            <a:pPr marL="457200" lvl="1" indent="0">
              <a:buNone/>
            </a:pPr>
            <a:r>
              <a:rPr lang="ru-RU" dirty="0"/>
              <a:t>	Высокая волатильность цены.</a:t>
            </a:r>
          </a:p>
          <a:p>
            <a:r>
              <a:rPr lang="ru-RU" dirty="0"/>
              <a:t>Категория 2</a:t>
            </a:r>
          </a:p>
          <a:p>
            <a:pPr marL="457200" lvl="1" indent="0">
              <a:buNone/>
            </a:pPr>
            <a:r>
              <a:rPr lang="ru-RU" dirty="0"/>
              <a:t>	Низкая волатильность цены.</a:t>
            </a:r>
          </a:p>
          <a:p>
            <a:r>
              <a:rPr lang="ru-RU" dirty="0"/>
              <a:t>Категория 3</a:t>
            </a:r>
          </a:p>
          <a:p>
            <a:pPr marL="457200" lvl="1" indent="0">
              <a:buNone/>
            </a:pPr>
            <a:r>
              <a:rPr lang="ru-RU" dirty="0"/>
              <a:t>	Большой разброс сроков доставки.</a:t>
            </a:r>
          </a:p>
          <a:p>
            <a:r>
              <a:rPr lang="ru-RU" dirty="0"/>
              <a:t>Категория 4</a:t>
            </a:r>
          </a:p>
          <a:p>
            <a:pPr marL="457200" lvl="1" indent="0">
              <a:buNone/>
            </a:pPr>
            <a:r>
              <a:rPr lang="ru-RU" dirty="0"/>
              <a:t>	Малый разброс сроков доставки.</a:t>
            </a:r>
          </a:p>
          <a:p>
            <a:r>
              <a:rPr lang="ru-RU" dirty="0"/>
              <a:t>Категория 5 </a:t>
            </a:r>
          </a:p>
          <a:p>
            <a:pPr marL="457200" lvl="1" indent="0">
              <a:buNone/>
            </a:pPr>
            <a:r>
              <a:rPr lang="ru-RU" dirty="0"/>
              <a:t>	Стабильное потребление.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5717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7526EE-1D71-4A47-85B7-09F49DE54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оптимизации</a:t>
            </a:r>
            <a:r>
              <a:rPr lang="en-US" dirty="0"/>
              <a:t> </a:t>
            </a:r>
            <a:r>
              <a:rPr lang="ru-RU" dirty="0"/>
              <a:t>плана закупок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B44031-4BA5-45BC-896C-25B580D42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Используется двухэтапное стохастическое программирование: на первом этапе фиксируйте базовые объёмы топлива по форвардным контрактам, минимизируя ожидаемые затраты; на втором — корректируйте закупки на </a:t>
            </a:r>
            <a:r>
              <a:rPr lang="ru-RU" dirty="0" err="1"/>
              <a:t>спотовом</a:t>
            </a:r>
            <a:r>
              <a:rPr lang="ru-RU" dirty="0"/>
              <a:t> рынке с </a:t>
            </a:r>
            <a:r>
              <a:rPr lang="ru-RU" dirty="0" err="1"/>
              <a:t>CVaR</a:t>
            </a:r>
            <a:r>
              <a:rPr lang="ru-RU" dirty="0"/>
              <a:t>-ограничением. Это учитывает волатильность цен и риски дефицита. Решайте методом декомпозиции </a:t>
            </a:r>
            <a:r>
              <a:rPr lang="ru-RU" dirty="0" err="1"/>
              <a:t>Бендерса</a:t>
            </a:r>
            <a:r>
              <a:rPr lang="ru-RU" dirty="0"/>
              <a:t> для масштабируемости.</a:t>
            </a:r>
          </a:p>
        </p:txBody>
      </p:sp>
    </p:spTree>
    <p:extLst>
      <p:ext uri="{BB962C8B-B14F-4D97-AF65-F5344CB8AC3E}">
        <p14:creationId xmlns:p14="http://schemas.microsoft.com/office/powerpoint/2010/main" val="1765260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FF2355-109F-4233-81FE-FA756772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Принципы формирования плана закупок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0F455F-F0DA-428C-8B97-31AF5788B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Категория 1</a:t>
            </a:r>
          </a:p>
          <a:p>
            <a:pPr marL="457200" lvl="1" indent="0">
              <a:buNone/>
            </a:pPr>
            <a:r>
              <a:rPr lang="ru-RU" dirty="0"/>
              <a:t>	Закупка 1-н раз в год. Объем закупки  -100 штук. </a:t>
            </a:r>
          </a:p>
          <a:p>
            <a:r>
              <a:rPr lang="ru-RU" dirty="0"/>
              <a:t>Категория 2</a:t>
            </a:r>
          </a:p>
          <a:p>
            <a:pPr marL="457200" lvl="1" indent="0">
              <a:buNone/>
            </a:pPr>
            <a:r>
              <a:rPr lang="ru-RU" dirty="0"/>
              <a:t>	Закупка 1-н раз в год. Объем закупки  - 50 штук. </a:t>
            </a:r>
          </a:p>
          <a:p>
            <a:r>
              <a:rPr lang="ru-RU" dirty="0"/>
              <a:t>Категория 3</a:t>
            </a:r>
          </a:p>
          <a:p>
            <a:pPr marL="457200" lvl="1" indent="0">
              <a:buNone/>
            </a:pPr>
            <a:r>
              <a:rPr lang="ru-RU" dirty="0"/>
              <a:t>	Закупка 1-н раз в 83 дня, объем закупки зависит от текущего остатка на складе и прогноза на период в 83 дня. </a:t>
            </a:r>
          </a:p>
          <a:p>
            <a:r>
              <a:rPr lang="ru-RU" dirty="0"/>
              <a:t>Категория 4</a:t>
            </a:r>
          </a:p>
          <a:p>
            <a:pPr marL="457200" lvl="1" indent="0">
              <a:buNone/>
            </a:pPr>
            <a:r>
              <a:rPr lang="ru-RU" dirty="0"/>
              <a:t>	Закупка в начале каждого месяца.</a:t>
            </a:r>
          </a:p>
          <a:p>
            <a:r>
              <a:rPr lang="ru-RU" dirty="0"/>
              <a:t>Категория 5 </a:t>
            </a:r>
          </a:p>
          <a:p>
            <a:pPr marL="457200" lvl="1" indent="0">
              <a:buNone/>
            </a:pPr>
            <a:r>
              <a:rPr lang="ru-RU" dirty="0"/>
              <a:t>	Закупка по требованию. Без накопления на складе. </a:t>
            </a:r>
          </a:p>
        </p:txBody>
      </p:sp>
    </p:spTree>
    <p:extLst>
      <p:ext uri="{BB962C8B-B14F-4D97-AF65-F5344CB8AC3E}">
        <p14:creationId xmlns:p14="http://schemas.microsoft.com/office/powerpoint/2010/main" val="34722060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173</Words>
  <Application>Microsoft Office PowerPoint</Application>
  <PresentationFormat>Широкоэкранный</PresentationFormat>
  <Paragraphs>24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Основные выводы из разведочного анализа данных</vt:lpstr>
      <vt:lpstr>Метод оптимизации плана закупок</vt:lpstr>
      <vt:lpstr>Принципы формирования плана закупок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</dc:title>
  <dc:creator>Рожкова Любовь Михайловна</dc:creator>
  <cp:lastModifiedBy>Рожкова Любовь Михайловна</cp:lastModifiedBy>
  <cp:revision>3</cp:revision>
  <dcterms:created xsi:type="dcterms:W3CDTF">2026-04-06T09:59:26Z</dcterms:created>
  <dcterms:modified xsi:type="dcterms:W3CDTF">2026-04-06T10:23:16Z</dcterms:modified>
</cp:coreProperties>
</file>